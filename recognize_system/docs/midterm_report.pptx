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5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哈尔滨工业大学（深圳） · 面向领域的计算机系统设计与开发实践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600" b="1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中 期 报 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基于面部图像的罕见病诊断算法与系统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6048" y="3703320"/>
            <a:ext cx="228600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组号 3 ｜ 班号 18 ｜ 计算机科学与技术学院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梁顺健 ｜ 张锦霖 ｜ 王家柯 ｜ 蒋云浩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0468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5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汇报人：＿＿＿＿＿＿          2026 年 ＿＿ 月 ＿＿ 日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874519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4600" b="1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课题背景与技术路线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58768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问题背景、应用意义</a:t>
            </a:r>
            <a:br/>
            <a:r>
              <a:rPr sz="11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任务书要求、总体方案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874519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2212848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4600" b="1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127248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858768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数据、特征、模型、实验</a:t>
            </a:r>
            <a:br/>
            <a:r>
              <a:rPr sz="11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可调用模型封装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874519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2212848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4600" b="1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127248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关键实验发现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858768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融合特征增益的证伪</a:t>
            </a:r>
            <a:br/>
            <a:r>
              <a:rPr sz="11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与六组独立检验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16568" y="1874519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90888" y="2212848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4600" b="1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3127248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问题与计划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3858768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当前困难、方案调整</a:t>
            </a:r>
            <a:br/>
            <a:r>
              <a:rPr sz="11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下一步安排与分工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课题背景与应用意义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01 ·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问题背景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10512"/>
            <a:ext cx="5486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①  </a:t>
            </a:r>
            <a:r>
              <a:rPr sz="14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罕见病患病人数少、种类多、临床表现复杂，约 7000 种，单病种发病率极低。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②  </a:t>
            </a:r>
            <a:r>
              <a:rPr sz="14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相当一部分遗传性综合征具有特征性面部表型——眼距、鼻梁、唇形等，可作为识别线索。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③  </a:t>
            </a:r>
            <a:r>
              <a:rPr sz="14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传统诊断依赖多项检查与医生经验，流程复杂、周期长，基层难以覆盖。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98448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应用意义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10512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929384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降低主观性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67712"/>
            <a:ext cx="4983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机器量化面部几何结构，  减少人工观察的个体差异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889504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008376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提高初筛效率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46704"/>
            <a:ext cx="4983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在基因检测前给出概率性提示，  辅助排序可疑病种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68496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08736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结果可解释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25696"/>
            <a:ext cx="4983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展示判断依据与关注区域，  而非只给黑箱结论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5230368"/>
            <a:ext cx="11237976" cy="8686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539496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本课题定位：</a:t>
            </a:r>
            <a:r>
              <a:rPr sz="13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面向具有典型面部表型的罕见遗传综合征，做「算法研究 + 系统实现」的完整工程实践，</a:t>
            </a: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而非临床诊断产品。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任务书要求回顾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01 · 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25296"/>
            <a:ext cx="11237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任务题目：</a:t>
            </a: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基于面部图像的罕见病诊断算法与系统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00784"/>
            <a:ext cx="11237976" cy="566928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拟定技术路线：</a:t>
            </a:r>
            <a:r>
              <a:rPr sz="12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面部图像预处理 → 特征提取 → 特征筛选与融合 → 分类模型训练 → 模型解释 → Web 系统实现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68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Web 系统 10 项核心功能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87121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287121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面部图像上传及预览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7121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7688" y="287121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输出各类别概率及 Top-K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37413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" y="337413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人脸检测、裁剪、对齐及预处理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37413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7688" y="337413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SHAP 解释关键面部特征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87705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387705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关键点检测与几何特征提取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7705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7688" y="387705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可视化模型关注的面部区域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437997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" y="437997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深度特征提取及特征融合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37997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7688" y="437997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识别历史记录查询与展示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488289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" y="488289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基于 XGBoost 的辅助分类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882896"/>
            <a:ext cx="384048" cy="438912"/>
          </a:xfrm>
          <a:prstGeom prst="rect">
            <a:avLst/>
          </a:prstGeom>
          <a:solidFill>
            <a:srgbClr val="2E75B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7688" y="4882896"/>
            <a:ext cx="5074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异常情况提示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504688"/>
            <a:ext cx="11237976" cy="65836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5614416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拟定技术栈：</a:t>
            </a:r>
            <a:r>
              <a:rPr sz="12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后端 Python + FastAPI（+ Java SpringBoot）；前端 Vue；存储 SQLite / MySQL；算法侧 Dlib + XGBoost + 10 折交叉验证 + SHAP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总体技术方案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01 · 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874519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66543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图像预处理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23160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检测 / 对齐 / 关键点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03703" y="2231136"/>
            <a:ext cx="219456" cy="237744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450592" y="1874519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23744" y="2066543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特征提取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423160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61 维几何 + 128 维深度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78808" y="2231136"/>
            <a:ext cx="219456" cy="237744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25696" y="1874519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2066543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筛选与融合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423160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Top-10 筛选 → 138 维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53912" y="2231136"/>
            <a:ext cx="219456" cy="237744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1874519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066543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模型训练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423160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模型 × 10 折分组交叉验证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129015" y="2231136"/>
            <a:ext cx="219456" cy="237744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75904" y="1874519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49056" y="2066543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模型解释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423160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SHAP + 区域可视化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104119" y="2231136"/>
            <a:ext cx="219456" cy="237744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351008" y="1874519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24160" y="2066543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Web 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2423160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FastAPI + Vue + 数据库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2999232"/>
            <a:ext cx="2523744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17136" y="3108960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⚠ </a:t>
            </a:r>
            <a:r>
              <a:rPr sz="95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已验证：该环节增益不显著</a:t>
            </a:r>
            <a:br>
              <a:rPr dirty="0"/>
            </a:br>
            <a:r>
              <a:rPr sz="95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（见 P12–P13）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" y="3977639"/>
            <a:ext cx="5486400" cy="2084831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187952"/>
            <a:ext cx="493776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约束一 · 小样本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训练样本仅 117 个，类别分布 53 / 33 / 31。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 必须靠交叉验证与正则化控制过拟合；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 不追求提高模型复杂度。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7064" y="3977639"/>
            <a:ext cx="5486400" cy="2084831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9672" y="4187952"/>
            <a:ext cx="493776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约束二 · 防数据泄漏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标准化器与特征选择器只在训练折上拟合。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 若在全量数据上 fit scaler，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   测试折信息会渗入训练，导致高估性能。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进度总览：已完成 vs 待完成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01 · 进度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070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算法链路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609344"/>
            <a:ext cx="3749039" cy="384048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7" y="1609344"/>
            <a:ext cx="1298448" cy="384048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93392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数据集整理与预处理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7" y="1993392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423160"/>
            <a:ext cx="374903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面部检测与关键点定位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7" y="2423160"/>
            <a:ext cx="12984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852928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61 维几何特征提取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7" y="2852928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282696"/>
            <a:ext cx="374903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128 维深度特征提取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7" y="3282696"/>
            <a:ext cx="12984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3712464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重要特征筛选（Top-10）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7" y="3712464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4142231"/>
            <a:ext cx="374903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特征融合（138 维）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7" y="4142231"/>
            <a:ext cx="12984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4572000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分类模型设计与对比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7" y="4572000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5001768"/>
            <a:ext cx="374903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模型性能评价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7" y="5001768"/>
            <a:ext cx="12984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5431536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可调用模型封装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7" y="5431536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2070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系统集成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609344"/>
            <a:ext cx="3749039" cy="384048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1609344"/>
            <a:ext cx="1298448" cy="384048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993392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无人脸 / 低置信度提示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1993392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423160"/>
            <a:ext cx="374903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多人脸 / 低质量图像提示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2423160"/>
            <a:ext cx="12984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部分完成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852928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输出 Top-K 预测结果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2680" y="2852928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部分完成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82696"/>
            <a:ext cx="374903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SHAP 可解释性分析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680" y="3282696"/>
            <a:ext cx="12984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未开始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712464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模型关注区域可视化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12680" y="3712464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未开始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142231"/>
            <a:ext cx="374903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识别历史记录管理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12680" y="4142231"/>
            <a:ext cx="12984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未开始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572000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Web 系统（FastAPI+Vue）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12680" y="4572000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未开始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5001768"/>
            <a:ext cx="374903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Java SpringBoot 后端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12680" y="5001768"/>
            <a:ext cx="12984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未开始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431536"/>
            <a:ext cx="3749039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联调 / 测试 / 文档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12680" y="5431536"/>
            <a:ext cx="1298448" cy="429768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未开始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" y="5925312"/>
            <a:ext cx="1123797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8" y="601675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整体进度：算法链路 100%　｜　系统集成 0%　（算法先行、系统后置：选型结论未定前做集成会返工）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数据集与预处理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02 · 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8" name="Picture 7" descr="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300" y="1207008"/>
            <a:ext cx="3696774" cy="2487168"/>
          </a:xfrm>
          <a:prstGeom prst="rect">
            <a:avLst/>
          </a:prstGeom>
        </p:spPr>
      </p:pic>
      <p:pic>
        <p:nvPicPr>
          <p:cNvPr id="9" name="Picture 8" descr="detect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062" y="1207008"/>
            <a:ext cx="3496403" cy="2487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" y="3712463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预处理链路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4059936"/>
            <a:ext cx="5486400" cy="9875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4169663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读图（PIL → RGB，兼容带 alpha 的 PNG）</a:t>
            </a:r>
            <a:br/>
            <a:r>
              <a:rPr sz="11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→ HOG 人脸检测（上采样 1 次，多脸取最大）</a:t>
            </a:r>
            <a:br/>
            <a:r>
              <a:rPr sz="11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→ 68 点关键点 → 5 点仿射对齐 → 128 维描述子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059936"/>
            <a:ext cx="548640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4169663"/>
            <a:ext cx="5029200" cy="4335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⚠ </a:t>
            </a:r>
            <a:r>
              <a:rPr sz="110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关键约束：只适用于接近正面的人脸</a:t>
            </a:r>
            <a:br>
              <a:rPr dirty="0"/>
            </a:br>
            <a:r>
              <a:rPr sz="11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5230368"/>
            <a:ext cx="11237976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4009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已目视确认：</a:t>
            </a:r>
            <a:r>
              <a:rPr sz="12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一张 02.jpg 是孩子的 90° 侧面照，检不出人脸是正确行为。训练集使用的 117 张全部来自可检出的正面照，数据集未选用的 10 张不计入。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特征提取（一）：61 维几何特征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02 · 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8" name="Picture 7" descr="landmarks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09380"/>
            <a:ext cx="6903720" cy="3250518"/>
          </a:xfrm>
          <a:prstGeom prst="rect">
            <a:avLst/>
          </a:prstGeom>
        </p:spPr>
      </p:pic>
      <p:pic>
        <p:nvPicPr>
          <p:cNvPr id="9" name="Picture 8" descr="geo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4968"/>
            <a:ext cx="4169663" cy="23793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75488" y="4718304"/>
            <a:ext cx="11237976" cy="142646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4864608"/>
            <a:ext cx="10698480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为什么用这 61 维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35 个距离 + 26 个角度，全部按「两外眼角间距 d(0,16)」或人脸宽 L 归一化，角度取 |cos θ|。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→ 尺度不变：与图像分辨率、拍摄距离无关，同一张脸在任何尺寸下算出的几何特征一致。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→ 可解释：每一个维度都能指回脸部的具体结构（鼻尖到右眼、鼻梁长度、下唇长……）。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特征提取（二）：128 维深度特征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02 · 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0700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Dlib 描述子的三级流水线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27632"/>
            <a:ext cx="5394960" cy="80467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17190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① 人脸检测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71907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get_frontal_face_detector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066543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RGB 图像 → 人脸方框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560320"/>
            <a:ext cx="5394960" cy="80467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65176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② 关键点定位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6517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shape_predictor_68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99923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图像 + 方框 → 68 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3493008"/>
            <a:ext cx="5394960" cy="80467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35844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③ 描述子提取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58444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resnet_model_v1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9319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图像 + 68 点 → 128 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4526280"/>
            <a:ext cx="539496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645152"/>
            <a:ext cx="49377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为什么关键点必须传给第 ③ 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网络内部会挑 5 个点（两眼中点、鼻尖、两嘴角）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做仿射对齐，先把人脸摆正再送进 ResNet。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结构：ResNet 卷积层 + 全局平均池化 → 128 维。</a:t>
            </a:r>
          </a:p>
        </p:txBody>
      </p:sp>
      <p:pic>
        <p:nvPicPr>
          <p:cNvPr id="23" name="Picture 22" descr="desc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520" y="1554480"/>
            <a:ext cx="4499486" cy="28346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27064" y="4526280"/>
            <a:ext cx="5486400" cy="15361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8" y="4663440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✅ 质量校验通过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同人 0.350 vs 异人 0.641，区分度 0.291；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dlib 官方阈值 0.6 下同人命中率 100%。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说明关键点与原图对齐正确，描述子有效。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特征筛选与融合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02 · 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35" y="1188720"/>
            <a:ext cx="6299065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243584"/>
            <a:ext cx="4215384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17536" y="1371600"/>
            <a:ext cx="3794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1" i="0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✅ 实现正确性的有力证据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1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本次 Top 5 全部落在论文 Top 10 内，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1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其中 4 个命中论文 Top 5。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944368"/>
            <a:ext cx="4215384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7536" y="3072384"/>
            <a:ext cx="3794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论文 Top 10 中另 5 项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（左眼宽、上唇相关）本次排到 16–49 名，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已定性为数据依赖性差异，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5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非实现错误。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919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融合特征构建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5230368"/>
            <a:ext cx="1481328" cy="713232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5358384"/>
            <a:ext cx="12984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Top-10</a:t>
            </a:r>
            <a:br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几何特征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76672"/>
            <a:ext cx="31089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000" b="1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5230368"/>
            <a:ext cx="5797296" cy="71323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" y="5358384"/>
            <a:ext cx="56144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Dlib 深度特征  128 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376672"/>
            <a:ext cx="31089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000" b="1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5230368"/>
            <a:ext cx="3118104" cy="713232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5358384"/>
            <a:ext cx="29352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融合特征  138 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5998464"/>
            <a:ext cx="11219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10 + 128 = 138　　比例悬殊，几何分支在总维度中仅占 7.2%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分类模型与实验设计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02 ·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207008"/>
            <a:ext cx="2670048" cy="10058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随机森林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95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n_estimators=100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1207008"/>
            <a:ext cx="2670048" cy="10058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1296" y="135331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支持向量机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950" b="0" i="0">
                <a:solidFill>
                  <a:srgbClr val="9DC3E6"/>
                </a:solidFill>
                <a:latin typeface="Consolas"/>
                <a:ea typeface="Consolas"/>
                <a:cs typeface="Consolas"/>
              </a:rPr>
              <a:t>kernel=rbf, C=1.0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207008"/>
            <a:ext cx="2670048" cy="10058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5331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95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默认参数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1207008"/>
            <a:ext cx="2670048" cy="10058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7151" y="135331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多层感知器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95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默认参数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395728"/>
            <a:ext cx="11237976" cy="566928"/>
          </a:xfrm>
          <a:prstGeom prst="roundRect">
            <a:avLst>
              <a:gd name="adj" fmla="val 14000"/>
            </a:avLst>
          </a:prstGeom>
          <a:solidFill>
            <a:srgbClr val="ECF2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514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实验规模：</a:t>
            </a:r>
            <a:r>
              <a:rPr sz="13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3 种特征方案（几何 10 / 深度 128 / 融合 138）× 4 个模型 × 10 折交叉验证 = </a:t>
            </a: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120 次训练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127248"/>
            <a:ext cx="11237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⚠ 两个关键设计（与任务书的差异，均属改进）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529584"/>
            <a:ext cx="2103120" cy="402336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78608" y="3529584"/>
            <a:ext cx="2103120" cy="402336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7" y="3529584"/>
            <a:ext cx="2459736" cy="402336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本课题实现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41464" y="3529584"/>
            <a:ext cx="4572000" cy="402336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理由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3931920"/>
            <a:ext cx="2103120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折划分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931920"/>
            <a:ext cx="2103120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「分层 10 折」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1727" y="3931920"/>
            <a:ext cx="2459736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StratifiedGroupKFold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1464" y="3931920"/>
            <a:ext cx="4572000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同一受试者不跨折；否则同一人的照片会分处训练/测试折，造成信息泄漏、高估性能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4645152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标准化与筛选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78608" y="4645152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未说明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1727" y="4645152"/>
            <a:ext cx="245973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只在训练折上拟合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41464" y="4645152"/>
            <a:ext cx="4572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若在全量数据上 fit scaler，测试折信息会渗入训练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5468112"/>
            <a:ext cx="11237976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55778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评价指标：</a:t>
            </a:r>
            <a:r>
              <a:rPr sz="12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精确率 / 召回率 / F1（macro 宏平均）、AUC（micro + OVR）、ROC 曲线、混淆矩阵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实验结果：三种特征方案对照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02 · 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8" name="Picture 7" descr="au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98" y="1152144"/>
            <a:ext cx="6659618" cy="3703320"/>
          </a:xfrm>
          <a:prstGeom prst="rect">
            <a:avLst/>
          </a:prstGeom>
        </p:spPr>
      </p:pic>
      <p:pic>
        <p:nvPicPr>
          <p:cNvPr id="9" name="Picture 8" descr="fusion_iden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951160"/>
            <a:ext cx="3895344" cy="21052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75488" y="5010912"/>
            <a:ext cx="11237976" cy="1170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513892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核心结论：</a:t>
            </a: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论文核心主张「融合后 128 → 138 维进一步提升分类效果」</a:t>
            </a:r>
            <a:r>
              <a:rPr sz="1400" b="1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 在本地数据上未复现。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几何列与深度列与论文基本吻合；但融合列与深度列在 4 个模型上AUC 逐位相同，连小幅波动都没有。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关键发现：融合增益的证伪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03 · 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33856"/>
            <a:ext cx="11237976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252728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结论：融合特征相比纯深度特征无显著增益，差异全部落在噪声范围内</a:t>
            </a:r>
          </a:p>
        </p:txBody>
      </p:sp>
      <p:pic>
        <p:nvPicPr>
          <p:cNvPr id="10" name="Picture 9" descr="weighted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00" y="1755648"/>
            <a:ext cx="5463695" cy="3017520"/>
          </a:xfrm>
          <a:prstGeom prst="rect">
            <a:avLst/>
          </a:prstGeom>
        </p:spPr>
      </p:pic>
      <p:pic>
        <p:nvPicPr>
          <p:cNvPr id="11" name="Picture 10" descr="fusion_t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971938"/>
            <a:ext cx="5568696" cy="258493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5488" y="4864608"/>
            <a:ext cx="11237976" cy="12801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97433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为什么没有增益？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218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1. 分支强弱悬殊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61441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深度 0.93–0.95，几何 0.78–0.82。</a:t>
            </a:r>
            <a:br/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弱分支能补的空间本就有限。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53218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2. 互补样本太少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61441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两分支出错样本重合度仅 0.17–0.28，</a:t>
            </a:r>
            <a:br/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但真正互补的样本全数据集只有约 9 个。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53218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3. 样本量过小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561441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逐折标准差 ±0.08~0.10，</a:t>
            </a:r>
            <a:br/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任何 ≤0.007 的提升都淹没在噪声里。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阶段性交付：可调用的预测模型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02 · 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1887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已交付文件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591056"/>
            <a:ext cx="5669280" cy="21031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21208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models/final/svm_deep.joblib</a:t>
            </a:r>
            <a:r>
              <a:rPr sz="110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      0.12 MB  训练好的分类器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models/final/threshold_table.csv</a:t>
            </a:r>
            <a:r>
              <a:rPr sz="110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         拒识阈值对照表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src/face_embedding.py</a:t>
            </a:r>
            <a:r>
              <a:rPr sz="110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                共享特征底层（训练/推理同源）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src/train_final.py</a:t>
            </a:r>
            <a:r>
              <a:rPr sz="110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                     模型训练与封装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src/predict.py</a:t>
            </a:r>
            <a:r>
              <a:rPr sz="110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                        推理入口（CLI + Python API）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docs/MODEL_USAGE.md</a:t>
            </a:r>
            <a:r>
              <a:rPr sz="110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                  模型使用说明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591056"/>
            <a:ext cx="5266944" cy="2103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84632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9DC3E6"/>
                </a:solidFill>
                <a:latin typeface="Consolas"/>
                <a:ea typeface="Consolas"/>
                <a:cs typeface="Consolas"/>
              </a:rPr>
              <a:t>$ python src/train_final.py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    训练并保存模型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050" b="0" i="0">
              <a:solidFill>
                <a:srgbClr val="7F7F7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python src/predict.py face.jpg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    单张预测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050" b="0" i="0">
              <a:solidFill>
                <a:srgbClr val="7F7F7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python src/predict.py data/raw/down -r -q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    批量预测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913632"/>
            <a:ext cx="11237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三个工程决定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2976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444398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共享特征模块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791456"/>
            <a:ext cx="320040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训练与推理物理上共用同一份代码。描述子对对齐极敏感（检测框平移 5px → 数值变化 0.043），两份代码漂移会导致静默出错。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2976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444398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加入拒识机制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791456"/>
            <a:ext cx="320040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置信度低于阈值时输出「不确定」而非强行分类——模型只见过 3 个病种，遇到第四种病仍会给高置信度错答。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42976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444398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scaler 随模型存盘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791456"/>
            <a:ext cx="320040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SVM 对特征尺度敏感。把标准化器与特征列序一起存进 .joblib，防止推理时用错参数。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模型效果与能力边界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02 · 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152144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243584"/>
            <a:ext cx="1472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0.942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810512"/>
            <a:ext cx="1472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4288" y="1152144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14016" y="1243584"/>
            <a:ext cx="1472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1810512"/>
            <a:ext cx="1472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准确率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1152144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42816" y="1243584"/>
            <a:ext cx="1472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0.809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1810512"/>
            <a:ext cx="1472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macro F1</a:t>
            </a:r>
          </a:p>
        </p:txBody>
      </p:sp>
      <p:pic>
        <p:nvPicPr>
          <p:cNvPr id="17" name="Picture 16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25" y="2304288"/>
            <a:ext cx="2709765" cy="2834640"/>
          </a:xfrm>
          <a:prstGeom prst="rect">
            <a:avLst/>
          </a:prstGeom>
        </p:spPr>
      </p:pic>
      <p:pic>
        <p:nvPicPr>
          <p:cNvPr id="18" name="Picture 17" descr="threshold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520288"/>
            <a:ext cx="2889504" cy="240263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778240" y="2304288"/>
            <a:ext cx="2935224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79408" y="2432304"/>
            <a:ext cx="256032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⚠ 能力边界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仅支持 3 个病种，遇到第四种病或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健康人脸仍会输出高置信度结果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仅适用于接近正面的人脸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（正面 97% vs 侧脸 13% 检出率）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样本量仅 117，且无独立测试集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不可用于任何临床诊断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5285232"/>
            <a:ext cx="11237976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394960"/>
            <a:ext cx="106984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口径说明：</a:t>
            </a:r>
            <a:r>
              <a:rPr sz="11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0.942 是 10 折交叉验证对「这套流程」的估计，</a:t>
            </a: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不是已保存模型自身的成绩</a:t>
            </a:r>
            <a:r>
              <a:rPr sz="1150" b="0" i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——它在全部 117 个样本上训练过，没有任何独立数据能衡量它。训练集内准确率 0.991 属无意义数字，不要引用。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54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方案调整说明（对照任务书）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367" y="237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04 · 调整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哈工大（深圳） · 组号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70432"/>
            <a:ext cx="1883664" cy="420624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9152" y="1170432"/>
            <a:ext cx="2011680" cy="420624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任务书拟定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1" y="1170432"/>
            <a:ext cx="2103120" cy="420624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实际采用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1170432"/>
            <a:ext cx="5239512" cy="420624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调整理由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591056"/>
            <a:ext cx="188366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分类模型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1591056"/>
            <a:ext cx="20116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XGBoost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1591056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3952" y="1591056"/>
            <a:ext cx="523951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实测 SVM AUC 0.94 &gt; XGBoost 0.88，且 SVM 在深度/融合两组均为最优。建议按实测结果调整。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1591056"/>
            <a:ext cx="11237976" cy="713232"/>
          </a:xfrm>
          <a:prstGeom prst="rect">
            <a:avLst/>
          </a:prstGeom>
          <a:noFill/>
          <a:ln w="2286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" y="2304288"/>
            <a:ext cx="188366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折划分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2" y="2304288"/>
            <a:ext cx="20116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分层 10 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1" y="2304288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分组分层 10 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3952" y="2304288"/>
            <a:ext cx="523951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同一受试者不跨折，避免信息泄漏，比论文更严格。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3017520"/>
            <a:ext cx="1883664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深度特征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9152" y="3017520"/>
            <a:ext cx="2011680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未指定模型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1" y="3017520"/>
            <a:ext cx="2103120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Dlib ResNet 128 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3017520"/>
            <a:ext cx="5239512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论文采用方案，且无需额外训练。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3730752"/>
            <a:ext cx="188366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模型解释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9152" y="3730752"/>
            <a:ext cx="20116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SHAP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1" y="3730752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未开始（计划中）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3730752"/>
            <a:ext cx="523951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安排在中期后。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4443984"/>
            <a:ext cx="1883664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后端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9152" y="4443984"/>
            <a:ext cx="2011680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Python+FastAPI（+SpringBoot）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70831" y="4443984"/>
            <a:ext cx="2103120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未开始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2" y="4443984"/>
            <a:ext cx="5239512" cy="713232"/>
          </a:xfrm>
          <a:prstGeom prst="rect">
            <a:avLst/>
          </a:prstGeom>
          <a:solidFill>
            <a:srgbClr val="ECF2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需先确定 FastAPI 与 SpringBoot 的分工边界。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1252</Words>
  <Application>Microsoft Office PowerPoint</Application>
  <PresentationFormat>宽屏</PresentationFormat>
  <Paragraphs>311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锦霖 张</cp:lastModifiedBy>
  <cp:revision>3</cp:revision>
  <dcterms:created xsi:type="dcterms:W3CDTF">2013-01-27T09:14:16Z</dcterms:created>
  <dcterms:modified xsi:type="dcterms:W3CDTF">2026-09-29T08:26:34Z</dcterms:modified>
  <cp:category/>
</cp:coreProperties>
</file>